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1_0_X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033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4000"/>
            <a:ext cx="812800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0" i="0">
                <a:solidFill>
                  <a:srgbClr val="000000"/>
                </a:solidFill>
                <a:latin typeface="IBM Plex Sans Light"/>
              </a:rPr>
              <a:t>EnergyQuantum: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0" i="0">
                <a:solidFill>
                  <a:srgbClr val="000000"/>
                </a:solidFill>
                <a:latin typeface="IBM Plex Sans Light"/>
              </a:rPr>
              <a:t>grid resilience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400" b="0" i="0">
                <a:solidFill>
                  <a:srgbClr val="000000"/>
                </a:solidFill>
                <a:latin typeface="IBM Plex Sans Light"/>
              </a:rPr>
              <a:t>for the Qiskit Fall Fest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1000" y="1574800"/>
            <a:ext cx="5003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IBM Plex Sans"/>
              </a:rPr>
              <a:t>Michael Esquivel Esquivel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1000" y="1924050"/>
            <a:ext cx="5003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IBM Plex Sans"/>
              </a:rPr>
              <a:t>Datos del SEIN</a:t>
            </a:r>
          </a:p>
        </p:txBody>
      </p:sp>
      <p:pic>
        <p:nvPicPr>
          <p:cNvPr id="6" name="Picture 5" descr="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0100" y="1244600"/>
            <a:ext cx="1600200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41000" y="3446779"/>
            <a:ext cx="5003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IBM Plex Sans"/>
              </a:rPr>
              <a:t>Sonia Esther Chumacero Coronel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1000" y="3796029"/>
            <a:ext cx="5003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IBM Plex Sans"/>
              </a:rPr>
              <a:t>Modelo y solvers</a:t>
            </a:r>
          </a:p>
        </p:txBody>
      </p:sp>
      <p:pic>
        <p:nvPicPr>
          <p:cNvPr id="9" name="Picture 8" descr="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0100" y="3116579"/>
            <a:ext cx="1600200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41000" y="5318760"/>
            <a:ext cx="5003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IBM Plex Sans"/>
              </a:rPr>
              <a:t>Gabriel Izar Aaron Cornejo Quito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1000" y="5668010"/>
            <a:ext cx="5003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IBM Plex Sans"/>
              </a:rPr>
              <a:t>QAOA y experimentos</a:t>
            </a:r>
          </a:p>
        </p:txBody>
      </p:sp>
      <p:pic>
        <p:nvPicPr>
          <p:cNvPr id="12" name="Picture 11" descr="G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40100" y="4988560"/>
            <a:ext cx="1600200" cy="1600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41000" y="7190740"/>
            <a:ext cx="5003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IBM Plex Sans"/>
              </a:rPr>
              <a:t>Jhony Cercado Atalaya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1000" y="7539990"/>
            <a:ext cx="5003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IBM Plex Sans"/>
              </a:rPr>
              <a:t>Plataforma web</a:t>
            </a:r>
          </a:p>
        </p:txBody>
      </p:sp>
      <p:pic>
        <p:nvPicPr>
          <p:cNvPr id="15" name="Picture 14" descr="J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40100" y="6860540"/>
            <a:ext cx="16002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76400"/>
          </a:xfrm>
          <a:prstGeom prst="rect">
            <a:avLst/>
          </a:prstGeom>
          <a:solidFill>
            <a:srgbClr val="391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30200"/>
            <a:ext cx="965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E7EB6"/>
                </a:solidFill>
                <a:latin typeface="IBM Plex Mono"/>
              </a:rPr>
              <a:t>02 —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6200" y="635000"/>
            <a:ext cx="12700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IBM Plex Sans"/>
              </a:rPr>
              <a:t>Una falla no se queda donde empieza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8000" y="685800"/>
            <a:ext cx="37084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C9B8E8"/>
                </a:solidFill>
                <a:latin typeface="IBM Plex Sans"/>
              </a:rPr>
              <a:t>EnergyQuantum · QFF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29000" y="9271000"/>
            <a:ext cx="1270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3000" b="0" i="0">
                <a:solidFill>
                  <a:srgbClr val="7C8FB8"/>
                </a:solidFill>
                <a:latin typeface="IBM Plex San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7000" y="2489200"/>
            <a:ext cx="38100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000" b="1" i="0">
                <a:solidFill>
                  <a:srgbClr val="39166D"/>
                </a:solidFill>
                <a:latin typeface="IBM Plex Sans"/>
              </a:rPr>
              <a:t>685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7000" y="3276600"/>
            <a:ext cx="381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B4F7A"/>
                </a:solidFill>
                <a:latin typeface="IBM Plex Mono"/>
              </a:rPr>
              <a:t>SUBESTACIONES EN EL MAPA OFICIAL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1000" y="2489200"/>
            <a:ext cx="38100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000" b="1" i="0">
                <a:solidFill>
                  <a:srgbClr val="39166D"/>
                </a:solidFill>
                <a:latin typeface="IBM Plex Sans"/>
              </a:rPr>
              <a:t>501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1000" y="3276600"/>
            <a:ext cx="381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B4F7A"/>
                </a:solidFill>
                <a:latin typeface="IBM Plex Mono"/>
              </a:rPr>
              <a:t>CONEXIONES CON EXTREMOS VERIFICADOS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0" y="2489200"/>
            <a:ext cx="41910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000" b="1" i="0">
                <a:solidFill>
                  <a:srgbClr val="39166D"/>
                </a:solidFill>
                <a:latin typeface="IBM Plex Sans"/>
              </a:rPr>
              <a:t>153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0" y="3276600"/>
            <a:ext cx="4191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B4F7A"/>
                </a:solidFill>
                <a:latin typeface="IBM Plex Mono"/>
              </a:rPr>
              <a:t>NODOS EN LA MAYOR COMPONENTE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7000" y="4267200"/>
            <a:ext cx="10287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Sans"/>
              </a:rPr>
              <a:t>El mapa del SEIN que publica Osinergmin trae 685 subestaciones y 977 líneas. Al resolver los extremos de cada línea quedan 501 conexiones y una componente conectada de 153 nodos: el resto son islas sin enlace declarado.</a:t>
            </a:r>
          </a:p>
        </p:txBody>
      </p:sp>
      <p:sp>
        <p:nvSpPr>
          <p:cNvPr id="14" name="Diamond 13"/>
          <p:cNvSpPr/>
          <p:nvPr/>
        </p:nvSpPr>
        <p:spPr>
          <a:xfrm>
            <a:off x="1397000" y="5969000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27200" y="5867400"/>
            <a:ext cx="9956800" cy="300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Sans"/>
              </a:rPr>
              <a:t>Una sola línea retirada puede partir la componente en dos.</a:t>
            </a:r>
          </a:p>
        </p:txBody>
      </p:sp>
      <p:sp>
        <p:nvSpPr>
          <p:cNvPr id="16" name="Diamond 15"/>
          <p:cNvSpPr/>
          <p:nvPr/>
        </p:nvSpPr>
        <p:spPr>
          <a:xfrm>
            <a:off x="1397000" y="6472819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27200" y="6371219"/>
            <a:ext cx="9956800" cy="300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Sans"/>
              </a:rPr>
              <a:t>Estar conectado no significa tener suministro.</a:t>
            </a:r>
          </a:p>
        </p:txBody>
      </p:sp>
      <p:sp>
        <p:nvSpPr>
          <p:cNvPr id="18" name="Diamond 17"/>
          <p:cNvSpPr/>
          <p:nvPr/>
        </p:nvSpPr>
        <p:spPr>
          <a:xfrm>
            <a:off x="1397000" y="6976638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27200" y="6875038"/>
            <a:ext cx="9956800" cy="300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Sans"/>
              </a:rPr>
              <a:t>Sin partición, la falla recorre toda la red que comparte enlace.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446000" y="6172200"/>
            <a:ext cx="4445000" cy="2159000"/>
          </a:xfrm>
          <a:prstGeom prst="roundRect">
            <a:avLst>
              <a:gd name="adj" fmla="val 6000"/>
            </a:avLst>
          </a:prstGeom>
          <a:solidFill>
            <a:srgbClr val="FFF1F7"/>
          </a:solidFill>
          <a:ln w="19050">
            <a:solidFill>
              <a:srgbClr val="FE7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446000" y="6172200"/>
            <a:ext cx="76200" cy="2159000"/>
          </a:xfrm>
          <a:prstGeom prst="rect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776200" y="6350000"/>
            <a:ext cx="3810000" cy="185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4A1030"/>
                </a:solidFill>
                <a:latin typeface="IBM Plex Sans"/>
              </a:rPr>
              <a:t>Cortar pocas líneas </a:t>
            </a:r>
            <a:r>
              <a:rPr sz="1600" b="1" i="0">
                <a:solidFill>
                  <a:srgbClr val="4A1030"/>
                </a:solidFill>
                <a:latin typeface="IBM Plex Sans"/>
              </a:rPr>
              <a:t>fuertes</a:t>
            </a:r>
            <a:r>
              <a:rPr sz="1600" b="0" i="0">
                <a:solidFill>
                  <a:srgbClr val="4A1030"/>
                </a:solidFill>
                <a:latin typeface="IBM Plex Sans"/>
              </a:rPr>
              <a:t> y dejar </a:t>
            </a:r>
            <a:r>
              <a:rPr sz="1600" b="1" i="0">
                <a:solidFill>
                  <a:srgbClr val="4A1030"/>
                </a:solidFill>
                <a:latin typeface="IBM Plex Sans"/>
              </a:rPr>
              <a:t>dos lados parejos</a:t>
            </a:r>
            <a:r>
              <a:rPr sz="1600" b="0" i="0">
                <a:solidFill>
                  <a:srgbClr val="4A1030"/>
                </a:solidFill>
                <a:latin typeface="IBM Plex Sans"/>
              </a:rPr>
              <a:t>: esa es la partición que buscamos.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76400"/>
          </a:xfrm>
          <a:prstGeom prst="rect">
            <a:avLst/>
          </a:prstGeom>
          <a:solidFill>
            <a:srgbClr val="391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30200"/>
            <a:ext cx="965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E7EB6"/>
                </a:solidFill>
                <a:latin typeface="IBM Plex Mono"/>
              </a:rPr>
              <a:t>03 — FORMULACIÓN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6200" y="635000"/>
            <a:ext cx="12700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IBM Plex Sans"/>
              </a:rPr>
              <a:t>Partición binaria: dónde cortar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8000" y="685800"/>
            <a:ext cx="37084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C9B8E8"/>
                </a:solidFill>
                <a:latin typeface="IBM Plex Sans"/>
              </a:rPr>
              <a:t>EnergyQuantum · QFF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29000" y="9271000"/>
            <a:ext cx="1270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3000" b="0" i="0">
                <a:solidFill>
                  <a:srgbClr val="7C8FB8"/>
                </a:solidFill>
                <a:latin typeface="IBM Plex San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97000" y="2413000"/>
            <a:ext cx="8128000" cy="3683000"/>
          </a:xfrm>
          <a:prstGeom prst="roundRect">
            <a:avLst>
              <a:gd name="adj" fmla="val 4500"/>
            </a:avLst>
          </a:prstGeom>
          <a:solidFill>
            <a:srgbClr val="39166D"/>
          </a:solidFill>
          <a:ln w="12700">
            <a:solidFill>
              <a:srgbClr val="391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78000" y="2692400"/>
            <a:ext cx="7112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E7EB6"/>
                </a:solidFill>
                <a:latin typeface="IBM Plex Mono"/>
              </a:rPr>
              <a:t>OBJETIVO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8000" y="3149600"/>
            <a:ext cx="7366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Cambria Math"/>
              </a:rPr>
              <a:t>min   H = Σ w</a:t>
            </a:r>
            <a:r>
              <a:rPr sz="2500" b="0" i="0" baseline="-25000">
                <a:solidFill>
                  <a:srgbClr val="FFFFFF"/>
                </a:solidFill>
                <a:latin typeface="Cambria Math"/>
              </a:rPr>
              <a:t>ij</a:t>
            </a:r>
            <a:r>
              <a:rPr sz="2500" b="0" i="0">
                <a:solidFill>
                  <a:srgbClr val="FFFFFF"/>
                </a:solidFill>
                <a:latin typeface="Cambria Math"/>
              </a:rPr>
              <a:t> (1 − Z</a:t>
            </a:r>
            <a:r>
              <a:rPr sz="2500" b="0" i="0" baseline="-25000">
                <a:solidFill>
                  <a:srgbClr val="FFFFFF"/>
                </a:solidFill>
                <a:latin typeface="Cambria Math"/>
              </a:rPr>
              <a:t>i</a:t>
            </a:r>
            <a:r>
              <a:rPr sz="2500" b="0" i="0">
                <a:solidFill>
                  <a:srgbClr val="FFFFFF"/>
                </a:solidFill>
                <a:latin typeface="Cambria Math"/>
              </a:rPr>
              <a:t>Z</a:t>
            </a:r>
            <a:r>
              <a:rPr sz="2500" b="0" i="0" baseline="-25000">
                <a:solidFill>
                  <a:srgbClr val="FFFFFF"/>
                </a:solidFill>
                <a:latin typeface="Cambria Math"/>
              </a:rPr>
              <a:t>j</a:t>
            </a:r>
            <a:r>
              <a:rPr sz="2500" b="0" i="0">
                <a:solidFill>
                  <a:srgbClr val="FFFFFF"/>
                </a:solidFill>
                <a:latin typeface="Cambria Math"/>
              </a:rPr>
              <a:t>)/2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Cambria Math"/>
              </a:rPr>
              <a:t>          + β (Σ d</a:t>
            </a:r>
            <a:r>
              <a:rPr sz="2500" b="0" i="0" baseline="-25000">
                <a:solidFill>
                  <a:srgbClr val="FFFFFF"/>
                </a:solidFill>
                <a:latin typeface="Cambria Math"/>
              </a:rPr>
              <a:t>i</a:t>
            </a:r>
            <a:r>
              <a:rPr sz="2500" b="0" i="0">
                <a:solidFill>
                  <a:srgbClr val="FFFFFF"/>
                </a:solidFill>
                <a:latin typeface="Cambria Math"/>
              </a:rPr>
              <a:t>Z</a:t>
            </a:r>
            <a:r>
              <a:rPr sz="2500" b="0" i="0" baseline="-25000">
                <a:solidFill>
                  <a:srgbClr val="FFFFFF"/>
                </a:solidFill>
                <a:latin typeface="Cambria Math"/>
              </a:rPr>
              <a:t>i</a:t>
            </a:r>
            <a:r>
              <a:rPr sz="2500" b="0" i="0">
                <a:solidFill>
                  <a:srgbClr val="FFFFFF"/>
                </a:solidFill>
                <a:latin typeface="Cambria Math"/>
              </a:rPr>
              <a:t>)²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8000" y="4902200"/>
            <a:ext cx="7366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C9B8E8"/>
                </a:solidFill>
                <a:latin typeface="IBM Plex Mono"/>
              </a:rPr>
              <a:t>QUBO → Ising con constante. 12 qubits y 2 048 particiones tras eliminar la simetría global.</a:t>
            </a:r>
          </a:p>
        </p:txBody>
      </p:sp>
      <p:sp>
        <p:nvSpPr>
          <p:cNvPr id="11" name="Diamond 10"/>
          <p:cNvSpPr/>
          <p:nvPr/>
        </p:nvSpPr>
        <p:spPr>
          <a:xfrm>
            <a:off x="10033000" y="2641600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200" y="2540000"/>
            <a:ext cx="6527800" cy="300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1">
                <a:solidFill>
                  <a:srgbClr val="140A2E"/>
                </a:solidFill>
                <a:latin typeface="IBM Plex Sans"/>
              </a:rPr>
              <a:t>w</a:t>
            </a:r>
            <a:r>
              <a:rPr sz="1200" b="0" i="0" baseline="-25000">
                <a:solidFill>
                  <a:srgbClr val="140A2E"/>
                </a:solidFill>
                <a:latin typeface="IBM Plex Sans"/>
              </a:rPr>
              <a:t>ij</a:t>
            </a:r>
            <a:r>
              <a:rPr sz="1700" b="0" i="0">
                <a:solidFill>
                  <a:srgbClr val="140A2E"/>
                </a:solidFill>
                <a:latin typeface="IBM Plex Sans"/>
              </a:rPr>
              <a:t>: longitud de la conexión;   </a:t>
            </a:r>
            <a:r>
              <a:rPr sz="1700" b="0" i="1">
                <a:solidFill>
                  <a:srgbClr val="140A2E"/>
                </a:solidFill>
                <a:latin typeface="IBM Plex Sans"/>
              </a:rPr>
              <a:t>d</a:t>
            </a:r>
            <a:r>
              <a:rPr sz="1200" b="0" i="0" baseline="-25000">
                <a:solidFill>
                  <a:srgbClr val="140A2E"/>
                </a:solidFill>
                <a:latin typeface="IBM Plex Sans"/>
              </a:rPr>
              <a:t>i</a:t>
            </a:r>
            <a:r>
              <a:rPr sz="1700" b="0" i="0">
                <a:solidFill>
                  <a:srgbClr val="140A2E"/>
                </a:solidFill>
                <a:latin typeface="IBM Plex Sans"/>
              </a:rPr>
              <a:t>: demanda del nodo.</a:t>
            </a:r>
          </a:p>
        </p:txBody>
      </p:sp>
      <p:sp>
        <p:nvSpPr>
          <p:cNvPr id="13" name="Diamond 12"/>
          <p:cNvSpPr/>
          <p:nvPr/>
        </p:nvSpPr>
        <p:spPr>
          <a:xfrm>
            <a:off x="10033000" y="3170819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63200" y="3069219"/>
            <a:ext cx="6527800" cy="300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Sans"/>
              </a:rPr>
              <a:t>El primer término paga cada línea cortada.</a:t>
            </a:r>
          </a:p>
        </p:txBody>
      </p:sp>
      <p:sp>
        <p:nvSpPr>
          <p:cNvPr id="15" name="Diamond 14"/>
          <p:cNvSpPr/>
          <p:nvPr/>
        </p:nvSpPr>
        <p:spPr>
          <a:xfrm>
            <a:off x="10033000" y="3700038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63200" y="3598438"/>
            <a:ext cx="6527800" cy="300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Sans"/>
              </a:rPr>
              <a:t>El segundo castiga el desbalance de demanda.</a:t>
            </a:r>
          </a:p>
        </p:txBody>
      </p:sp>
      <p:sp>
        <p:nvSpPr>
          <p:cNvPr id="17" name="Diamond 16"/>
          <p:cNvSpPr/>
          <p:nvPr/>
        </p:nvSpPr>
        <p:spPr>
          <a:xfrm>
            <a:off x="10033000" y="4229257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63200" y="4127657"/>
            <a:ext cx="6527800" cy="300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Sans"/>
              </a:rPr>
              <a:t>β = 3.0</a:t>
            </a:r>
            <a:r>
              <a:rPr sz="1700" b="0" i="0">
                <a:solidFill>
                  <a:srgbClr val="140A2E"/>
                </a:solidFill>
                <a:latin typeface="IBM Plex Sans"/>
              </a:rPr>
              <a:t> en todos los experimentos.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33000" y="5969000"/>
            <a:ext cx="6858000" cy="1905000"/>
          </a:xfrm>
          <a:prstGeom prst="roundRect">
            <a:avLst>
              <a:gd name="adj" fmla="val 6000"/>
            </a:avLst>
          </a:prstGeom>
          <a:solidFill>
            <a:srgbClr val="FFF1F7"/>
          </a:solidFill>
          <a:ln w="19050">
            <a:solidFill>
              <a:srgbClr val="FE7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33000" y="5969000"/>
            <a:ext cx="76200" cy="1905000"/>
          </a:xfrm>
          <a:prstGeom prst="rect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63200" y="6146800"/>
            <a:ext cx="622300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4A1030"/>
                </a:solidFill>
                <a:latin typeface="IBM Plex Sans"/>
              </a:rPr>
              <a:t>Los validadores van aparte de H: grupos no vacíos, conectividad y suficiencia agregada de generación.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7000" y="6451600"/>
            <a:ext cx="812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B4F7A"/>
                </a:solidFill>
                <a:latin typeface="IBM Plex Mono"/>
              </a:rPr>
              <a:t>Corte de 9 con desbalance 7: el óptimo sintético.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76400"/>
          </a:xfrm>
          <a:prstGeom prst="rect">
            <a:avLst/>
          </a:prstGeom>
          <a:solidFill>
            <a:srgbClr val="391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30200"/>
            <a:ext cx="965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E7EB6"/>
                </a:solidFill>
                <a:latin typeface="IBM Plex Mono"/>
              </a:rPr>
              <a:t>04 —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6200" y="635000"/>
            <a:ext cx="12700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IBM Plex Sans"/>
              </a:rPr>
              <a:t>De Osinergmin al grafo, sin inventar líneas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8000" y="685800"/>
            <a:ext cx="37084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C9B8E8"/>
                </a:solidFill>
                <a:latin typeface="IBM Plex Sans"/>
              </a:rPr>
              <a:t>EnergyQuantum · QFF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29000" y="9271000"/>
            <a:ext cx="1270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3000" b="0" i="0">
                <a:solidFill>
                  <a:srgbClr val="7C8FB8"/>
                </a:solidFill>
                <a:latin typeface="IBM Plex San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97000" y="2489200"/>
            <a:ext cx="2870200" cy="1651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BC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51000" y="2692400"/>
            <a:ext cx="2413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39166D"/>
                </a:solidFill>
                <a:latin typeface="IBM Plex Sans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000" y="3403600"/>
            <a:ext cx="2413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B4F7A"/>
                </a:solidFill>
                <a:latin typeface="IBM Plex Mono"/>
              </a:rPr>
              <a:t>CAPAS DESCARGADAS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7200" y="30480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FE7EB6"/>
                </a:solidFill>
                <a:latin typeface="IBM Plex Sans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489200"/>
            <a:ext cx="2870200" cy="1651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BC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6000" y="2692400"/>
            <a:ext cx="2413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39166D"/>
                </a:solidFill>
                <a:latin typeface="IBM Plex Sans"/>
              </a:rPr>
              <a:t>2 209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0" y="3403600"/>
            <a:ext cx="2413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B4F7A"/>
                </a:solidFill>
                <a:latin typeface="IBM Plex Mono"/>
              </a:rPr>
              <a:t>REGISTROS OFICIALES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2200" y="30480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FE7EB6"/>
                </a:solidFill>
                <a:latin typeface="IBM Plex Sans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7000" y="2489200"/>
            <a:ext cx="2870200" cy="1651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BC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692400"/>
            <a:ext cx="2413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39166D"/>
                </a:solidFill>
                <a:latin typeface="IBM Plex Sans"/>
              </a:rPr>
              <a:t>685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403600"/>
            <a:ext cx="2413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B4F7A"/>
                </a:solidFill>
                <a:latin typeface="IBM Plex Mono"/>
              </a:rPr>
              <a:t>ESTACIONES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17200" y="30480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FE7EB6"/>
                </a:solidFill>
                <a:latin typeface="IBM Plex San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22000" y="2489200"/>
            <a:ext cx="2870200" cy="1651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BC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76000" y="2692400"/>
            <a:ext cx="2413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39166D"/>
                </a:solidFill>
                <a:latin typeface="IBM Plex Sans"/>
              </a:rPr>
              <a:t>977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76000" y="3403600"/>
            <a:ext cx="2413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B4F7A"/>
                </a:solidFill>
                <a:latin typeface="IBM Plex Mono"/>
              </a:rPr>
              <a:t>LÍNEAS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92200" y="30480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FE7EB6"/>
                </a:solidFill>
                <a:latin typeface="IBM Plex Sans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097000" y="2489200"/>
            <a:ext cx="2870200" cy="1651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BC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351000" y="2692400"/>
            <a:ext cx="2413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39166D"/>
                </a:solidFill>
                <a:latin typeface="IBM Plex Sans"/>
              </a:rPr>
              <a:t>501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1000" y="3403600"/>
            <a:ext cx="2413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B4F7A"/>
                </a:solidFill>
                <a:latin typeface="IBM Plex Mono"/>
              </a:rPr>
              <a:t>CONEXIONES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97000" y="4699000"/>
            <a:ext cx="15494000" cy="1524000"/>
          </a:xfrm>
          <a:prstGeom prst="roundRect">
            <a:avLst>
              <a:gd name="adj" fmla="val 6000"/>
            </a:avLst>
          </a:prstGeom>
          <a:solidFill>
            <a:srgbClr val="FFF1F7"/>
          </a:solidFill>
          <a:ln w="19050">
            <a:solidFill>
              <a:srgbClr val="FE7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97000" y="4699000"/>
            <a:ext cx="76200" cy="1524000"/>
          </a:xfrm>
          <a:prstGeom prst="rect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27200" y="4876800"/>
            <a:ext cx="148590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4A1030"/>
                </a:solidFill>
                <a:latin typeface="IBM Plex Sans"/>
              </a:rPr>
              <a:t>Una línea solo crea arista si </a:t>
            </a:r>
            <a:r>
              <a:rPr sz="1700" b="1" i="0">
                <a:solidFill>
                  <a:srgbClr val="4A1030"/>
                </a:solidFill>
                <a:latin typeface="IBM Plex Mono"/>
              </a:rPr>
              <a:t>NODO_SALIDA</a:t>
            </a:r>
            <a:r>
              <a:rPr sz="1700" b="0" i="0">
                <a:solidFill>
                  <a:srgbClr val="4A1030"/>
                </a:solidFill>
                <a:latin typeface="IBM Plex Sans"/>
              </a:rPr>
              <a:t> y </a:t>
            </a:r>
            <a:r>
              <a:rPr sz="1700" b="1" i="0">
                <a:solidFill>
                  <a:srgbClr val="4A1030"/>
                </a:solidFill>
                <a:latin typeface="IBM Plex Mono"/>
              </a:rPr>
              <a:t>NODO_LLEGADA</a:t>
            </a:r>
            <a:r>
              <a:rPr sz="1700" b="0" i="0">
                <a:solidFill>
                  <a:srgbClr val="4A1030"/>
                </a:solidFill>
                <a:latin typeface="IBM Plex Sans"/>
              </a:rPr>
              <a:t> coinciden con dos estaciones. La distancia sirve para desempatar nombres, nunca para inventar una conexión.</a:t>
            </a:r>
          </a:p>
        </p:txBody>
      </p:sp>
      <p:sp>
        <p:nvSpPr>
          <p:cNvPr id="29" name="Diamond 28"/>
          <p:cNvSpPr/>
          <p:nvPr/>
        </p:nvSpPr>
        <p:spPr>
          <a:xfrm>
            <a:off x="1397000" y="6832600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27200" y="6731000"/>
            <a:ext cx="7289800" cy="282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 i="0">
                <a:solidFill>
                  <a:srgbClr val="140A2E"/>
                </a:solidFill>
                <a:latin typeface="IBM Plex Sans"/>
              </a:rPr>
              <a:t>618 líneas verificadas; 359 quedan fuera con el motivo registrado.</a:t>
            </a:r>
          </a:p>
        </p:txBody>
      </p:sp>
      <p:sp>
        <p:nvSpPr>
          <p:cNvPr id="31" name="Diamond 30"/>
          <p:cNvSpPr/>
          <p:nvPr/>
        </p:nvSpPr>
        <p:spPr>
          <a:xfrm>
            <a:off x="1397000" y="7293335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27200" y="7191735"/>
            <a:ext cx="7289800" cy="282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 i="0">
                <a:solidFill>
                  <a:srgbClr val="140A2E"/>
                </a:solidFill>
                <a:latin typeface="IBM Plex Sans"/>
              </a:rPr>
              <a:t>Cada registro conserva capa, ID de origen y fecha.</a:t>
            </a:r>
          </a:p>
        </p:txBody>
      </p:sp>
      <p:sp>
        <p:nvSpPr>
          <p:cNvPr id="33" name="Diamond 32"/>
          <p:cNvSpPr/>
          <p:nvPr/>
        </p:nvSpPr>
        <p:spPr>
          <a:xfrm>
            <a:off x="9652000" y="6832600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2200" y="6731000"/>
            <a:ext cx="6908800" cy="282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 i="0">
                <a:solidFill>
                  <a:srgbClr val="140A2E"/>
                </a:solidFill>
                <a:latin typeface="IBM Plex Sans"/>
              </a:rPr>
              <a:t>COES se consultó como sonda de acceso: 0 aristas validadas por COES.</a:t>
            </a:r>
          </a:p>
        </p:txBody>
      </p:sp>
      <p:sp>
        <p:nvSpPr>
          <p:cNvPr id="35" name="Diamond 34"/>
          <p:cNvSpPr/>
          <p:nvPr/>
        </p:nvSpPr>
        <p:spPr>
          <a:xfrm>
            <a:off x="9652000" y="7293335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82200" y="7191735"/>
            <a:ext cx="6908800" cy="282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 i="0">
                <a:solidFill>
                  <a:srgbClr val="140A2E"/>
                </a:solidFill>
                <a:latin typeface="IBM Plex Sans"/>
              </a:rPr>
              <a:t>Snapshot de 17 capas disponible en data/processed.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76400"/>
          </a:xfrm>
          <a:prstGeom prst="rect">
            <a:avLst/>
          </a:prstGeom>
          <a:solidFill>
            <a:srgbClr val="391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30200"/>
            <a:ext cx="965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E7EB6"/>
                </a:solidFill>
                <a:latin typeface="IBM Plex Mono"/>
              </a:rPr>
              <a:t>05 — SOLVERS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6200" y="635000"/>
            <a:ext cx="12700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IBM Plex Sans"/>
              </a:rPr>
              <a:t>Cuatro métodos, el mismo contrato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8000" y="685800"/>
            <a:ext cx="37084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C9B8E8"/>
                </a:solidFill>
                <a:latin typeface="IBM Plex Sans"/>
              </a:rPr>
              <a:t>EnergyQuantum · QFF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29000" y="9271000"/>
            <a:ext cx="1270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3000" b="0" i="0">
                <a:solidFill>
                  <a:srgbClr val="7C8FB8"/>
                </a:solidFill>
                <a:latin typeface="IBM Plex San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97000" y="2489200"/>
            <a:ext cx="7366000" cy="264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BC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97000" y="2489200"/>
            <a:ext cx="101600" cy="2641600"/>
          </a:xfrm>
          <a:prstGeom prst="rect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794000"/>
            <a:ext cx="6096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39166D"/>
                </a:solidFill>
                <a:latin typeface="IBM Plex Sans"/>
              </a:rPr>
              <a:t>Exacto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378200"/>
            <a:ext cx="6477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140A2E"/>
                </a:solidFill>
                <a:latin typeface="IBM Plex Sans"/>
              </a:rPr>
              <a:t>Enumera 2</a:t>
            </a:r>
            <a:r>
              <a:rPr sz="1600" b="0" i="0" baseline="30000">
                <a:solidFill>
                  <a:srgbClr val="140A2E"/>
                </a:solidFill>
                <a:latin typeface="IBM Plex Sans"/>
              </a:rPr>
              <a:t>n−1</a:t>
            </a:r>
            <a:r>
              <a:rPr sz="1600" b="0" i="0">
                <a:solidFill>
                  <a:srgbClr val="140A2E"/>
                </a:solidFill>
                <a:latin typeface="IBM Plex Sans"/>
              </a:rPr>
              <a:t> particiones y certifica el óptimo.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368800"/>
            <a:ext cx="508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4F7A"/>
                </a:solidFill>
                <a:latin typeface="IBM Plex Mono"/>
              </a:rPr>
              <a:t>0.19 s · 2 047 evaluaciones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368800"/>
            <a:ext cx="152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E7EB6"/>
                </a:solidFill>
                <a:latin typeface="IBM Plex Mono"/>
              </a:rPr>
              <a:t>12 nodos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71000" y="2489200"/>
            <a:ext cx="7366000" cy="264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BC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71000" y="2489200"/>
            <a:ext cx="101600" cy="2641600"/>
          </a:xfrm>
          <a:prstGeom prst="rect">
            <a:avLst/>
          </a:prstGeom>
          <a:solidFill>
            <a:srgbClr val="391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02800" y="2794000"/>
            <a:ext cx="6096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39166D"/>
                </a:solidFill>
                <a:latin typeface="IBM Plex Sans"/>
              </a:rPr>
              <a:t>Búsqueda 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02800" y="3378200"/>
            <a:ext cx="6477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140A2E"/>
                </a:solidFill>
                <a:latin typeface="IBM Plex Sans"/>
              </a:rPr>
              <a:t>Multirreinicio sobre vecinos 1-flip; arranca desde KL.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02800" y="4368800"/>
            <a:ext cx="508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4F7A"/>
                </a:solidFill>
                <a:latin typeface="IBM Plex Mono"/>
              </a:rPr>
              <a:t>0.07 s · 736 evaluaciones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32000" y="4368800"/>
            <a:ext cx="152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E7EB6"/>
                </a:solidFill>
                <a:latin typeface="IBM Plex Mono"/>
              </a:rPr>
              <a:t>12 nodos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97000" y="5486400"/>
            <a:ext cx="7366000" cy="264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BC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97000" y="5486400"/>
            <a:ext cx="101600" cy="2641600"/>
          </a:xfrm>
          <a:prstGeom prst="rect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5791200"/>
            <a:ext cx="6096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39166D"/>
                </a:solidFill>
                <a:latin typeface="IBM Plex Sans"/>
              </a:rPr>
              <a:t>Kernighan–Lin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6375400"/>
            <a:ext cx="6477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140A2E"/>
                </a:solidFill>
                <a:latin typeface="IBM Plex Sans"/>
              </a:rPr>
              <a:t>Intercambios por ganancia; no mira la demanda.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7366000"/>
            <a:ext cx="508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4F7A"/>
                </a:solidFill>
                <a:latin typeface="IBM Plex Mono"/>
              </a:rPr>
              <a:t>0.003 s · 10 evaluaciones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7366000"/>
            <a:ext cx="152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E7EB6"/>
                </a:solidFill>
                <a:latin typeface="IBM Plex Mono"/>
              </a:rPr>
              <a:t>12 nodos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71000" y="5486400"/>
            <a:ext cx="7366000" cy="264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BC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71000" y="5486400"/>
            <a:ext cx="101600" cy="2641600"/>
          </a:xfrm>
          <a:prstGeom prst="rect">
            <a:avLst/>
          </a:prstGeom>
          <a:solidFill>
            <a:srgbClr val="391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02800" y="5791200"/>
            <a:ext cx="6096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39166D"/>
                </a:solidFill>
                <a:latin typeface="IBM Plex Sans"/>
              </a:rPr>
              <a:t>QAOA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2800" y="6375400"/>
            <a:ext cx="6477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140A2E"/>
                </a:solidFill>
                <a:latin typeface="IBM Plex Sans"/>
              </a:rPr>
              <a:t>H + RZZ + RX, p capas, COBYLA y Aer con 2 048 shots.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2800" y="7366000"/>
            <a:ext cx="508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4F7A"/>
                </a:solidFill>
                <a:latin typeface="IBM Plex Mono"/>
              </a:rPr>
              <a:t>0.87 s · 40 evaluaciones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732000" y="7366000"/>
            <a:ext cx="152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E7EB6"/>
                </a:solidFill>
                <a:latin typeface="IBM Plex Mono"/>
              </a:rPr>
              <a:t>12 qubits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7000" y="8763000"/>
            <a:ext cx="1524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B4F7A"/>
                </a:solidFill>
                <a:latin typeface="IBM Plex Mono"/>
              </a:rPr>
              <a:t>Los cuatro comparten la misma instancia, el mismo objetivo y la misma validación.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76400"/>
          </a:xfrm>
          <a:prstGeom prst="rect">
            <a:avLst/>
          </a:prstGeom>
          <a:solidFill>
            <a:srgbClr val="391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30200"/>
            <a:ext cx="965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E7EB6"/>
                </a:solidFill>
                <a:latin typeface="IBM Plex Mono"/>
              </a:rPr>
              <a:t>06 — RESULTADOS SINTÉTICOS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6200" y="635000"/>
            <a:ext cx="12700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IBM Plex Sans"/>
              </a:rPr>
              <a:t>QAOA llega al óptimo en las 9 corridas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8000" y="685800"/>
            <a:ext cx="37084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C9B8E8"/>
                </a:solidFill>
                <a:latin typeface="IBM Plex Sans"/>
              </a:rPr>
              <a:t>EnergyQuantum · QFF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29000" y="9271000"/>
            <a:ext cx="1270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3000" b="0" i="0">
                <a:solidFill>
                  <a:srgbClr val="7C8FB8"/>
                </a:solidFill>
                <a:latin typeface="IBM Plex San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97000" y="2489200"/>
            <a:ext cx="8890000" cy="5969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BC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78000" y="2717800"/>
            <a:ext cx="787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B4F7A"/>
                </a:solidFill>
                <a:latin typeface="IBM Plex Mono"/>
              </a:rPr>
              <a:t>COSTO ESPERADO E[H] POR NÚMERO DE CAPAS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3000" y="4399280"/>
            <a:ext cx="1092200" cy="3093720"/>
          </a:xfrm>
          <a:prstGeom prst="rect">
            <a:avLst/>
          </a:prstGeom>
          <a:solidFill>
            <a:srgbClr val="DAE5FC"/>
          </a:solidFill>
          <a:ln w="12700">
            <a:solidFill>
              <a:srgbClr val="391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018279"/>
            <a:ext cx="1346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39166D"/>
                </a:solidFill>
                <a:latin typeface="IBM Plex Sans"/>
              </a:rPr>
              <a:t>0.672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7670800"/>
            <a:ext cx="1346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40A2E"/>
                </a:solidFill>
                <a:latin typeface="IBM Plex Mono"/>
              </a:rPr>
              <a:t>p =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8000" y="4528185"/>
            <a:ext cx="1092200" cy="2964815"/>
          </a:xfrm>
          <a:prstGeom prst="rect">
            <a:avLst/>
          </a:prstGeom>
          <a:solidFill>
            <a:srgbClr val="DAE5FC"/>
          </a:solidFill>
          <a:ln w="12700">
            <a:solidFill>
              <a:srgbClr val="391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91000" y="4147185"/>
            <a:ext cx="1346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39166D"/>
                </a:solidFill>
                <a:latin typeface="IBM Plex Sans"/>
              </a:rPr>
              <a:t>0.644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0" y="7670800"/>
            <a:ext cx="1346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40A2E"/>
                </a:solidFill>
                <a:latin typeface="IBM Plex Mono"/>
              </a:rPr>
              <a:t>p =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3000" y="4330223"/>
            <a:ext cx="1092200" cy="3162776"/>
          </a:xfrm>
          <a:prstGeom prst="rect">
            <a:avLst/>
          </a:prstGeom>
          <a:solidFill>
            <a:srgbClr val="DAE5FC"/>
          </a:solidFill>
          <a:ln w="12700">
            <a:solidFill>
              <a:srgbClr val="391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3949223"/>
            <a:ext cx="1346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39166D"/>
                </a:solidFill>
                <a:latin typeface="IBM Plex Sans"/>
              </a:rPr>
              <a:t>0.687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7670800"/>
            <a:ext cx="1346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40A2E"/>
                </a:solidFill>
                <a:latin typeface="IBM Plex Mono"/>
              </a:rPr>
              <a:t>p =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0" y="4560411"/>
            <a:ext cx="1092200" cy="2932588"/>
          </a:xfrm>
          <a:prstGeom prst="rect">
            <a:avLst/>
          </a:prstGeom>
          <a:solidFill>
            <a:srgbClr val="DAE5FC"/>
          </a:solidFill>
          <a:ln w="12700">
            <a:solidFill>
              <a:srgbClr val="391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4179411"/>
            <a:ext cx="1346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39166D"/>
                </a:solidFill>
                <a:latin typeface="IBM Plex Sans"/>
              </a:rPr>
              <a:t>0.637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7670800"/>
            <a:ext cx="13462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40A2E"/>
                </a:solidFill>
                <a:latin typeface="IBM Plex Mono"/>
              </a:rPr>
              <a:t>p =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5000" y="6456051"/>
            <a:ext cx="7874000" cy="25400"/>
          </a:xfrm>
          <a:prstGeom prst="rect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61200" y="2832100"/>
            <a:ext cx="330200" cy="25400"/>
          </a:xfrm>
          <a:prstGeom prst="rect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3000" y="2717800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E7EB6"/>
                </a:solidFill>
                <a:latin typeface="IBM Plex Mono"/>
              </a:rPr>
              <a:t>H* = 0.22524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5000" y="8102600"/>
            <a:ext cx="787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4F7A"/>
                </a:solidFill>
                <a:latin typeface="IBM Plex Mono"/>
              </a:rPr>
              <a:t>3 semillas por capa · 2 048 shots · Aer ideal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2000" y="2540000"/>
            <a:ext cx="609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600" b="1" i="0">
                <a:solidFill>
                  <a:srgbClr val="39166D"/>
                </a:solidFill>
                <a:latin typeface="IBM Plex Sans"/>
              </a:rPr>
              <a:t>9 /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2000" y="3276600"/>
            <a:ext cx="609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B4F7A"/>
                </a:solidFill>
                <a:latin typeface="IBM Plex Mono"/>
              </a:rPr>
              <a:t>CORRIDAS QUE ALCANZARON EL ÓPTIMO EXACTO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2000" y="4064000"/>
            <a:ext cx="609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600" b="1" i="0">
                <a:solidFill>
                  <a:srgbClr val="FE7EB6"/>
                </a:solidFill>
                <a:latin typeface="IBM Plex Sans"/>
              </a:rPr>
              <a:t>0.4 %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2000" y="4800600"/>
            <a:ext cx="609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B4F7A"/>
                </a:solidFill>
                <a:latin typeface="IBM Plex Mono"/>
              </a:rPr>
              <a:t>PROBABILIDAD DE MEDIR EL ÓPTIMO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22000" y="5588000"/>
            <a:ext cx="6096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 i="0">
                <a:solidFill>
                  <a:srgbClr val="39166D"/>
                </a:solidFill>
                <a:latin typeface="IBM Plex Sans"/>
              </a:rPr>
              <a:t>0.44 → 0.87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2000" y="6248400"/>
            <a:ext cx="609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B4F7A"/>
                </a:solidFill>
                <a:latin typeface="IBM Plex Mono"/>
              </a:rPr>
              <a:t>TIEMPO POR CORRIDA, DE P=1 A P=4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22000" y="7239000"/>
            <a:ext cx="6096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B4F7A"/>
                </a:solidFill>
                <a:latin typeface="IBM Plex Mono"/>
              </a:rPr>
              <a:t>E[H] baja de 0.672 a 0.637. La referencia uniforme con los mismos shots también alcanza el óptimo: no hay ventaja cuántica.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76400"/>
          </a:xfrm>
          <a:prstGeom prst="rect">
            <a:avLst/>
          </a:prstGeom>
          <a:solidFill>
            <a:srgbClr val="391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30200"/>
            <a:ext cx="965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E7EB6"/>
                </a:solidFill>
                <a:latin typeface="IBM Plex Mono"/>
              </a:rPr>
              <a:t>07 — RED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6200" y="635000"/>
            <a:ext cx="12700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IBM Plex Sans"/>
              </a:rPr>
              <a:t>Trujillo: 6 nodos del SEIN verificado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8000" y="685800"/>
            <a:ext cx="37084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C9B8E8"/>
                </a:solidFill>
                <a:latin typeface="IBM Plex Sans"/>
              </a:rPr>
              <a:t>EnergyQuantum · QFF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29000" y="9271000"/>
            <a:ext cx="1270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3000" b="0" i="0">
                <a:solidFill>
                  <a:srgbClr val="7C8FB8"/>
                </a:solidFill>
                <a:latin typeface="IBM Plex San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7000" y="2413000"/>
            <a:ext cx="20955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800" b="1" i="0">
                <a:solidFill>
                  <a:srgbClr val="39166D"/>
                </a:solidFill>
                <a:latin typeface="IBM Plex Sa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7000" y="3048000"/>
            <a:ext cx="2095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B4F7A"/>
                </a:solidFill>
                <a:latin typeface="IBM Plex Mono"/>
              </a:rPr>
              <a:t>NODOS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9500" y="2413000"/>
            <a:ext cx="20955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800" b="1" i="0">
                <a:solidFill>
                  <a:srgbClr val="39166D"/>
                </a:solidFill>
                <a:latin typeface="IBM Plex Sans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0" y="3048000"/>
            <a:ext cx="2095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B4F7A"/>
                </a:solidFill>
                <a:latin typeface="IBM Plex Mono"/>
              </a:rPr>
              <a:t>CONEXIONES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0" y="2413000"/>
            <a:ext cx="20955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800" b="1" i="0">
                <a:solidFill>
                  <a:srgbClr val="39166D"/>
                </a:solidFill>
                <a:latin typeface="IBM Plex Sans"/>
              </a:rPr>
              <a:t>51.03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0" y="3048000"/>
            <a:ext cx="2095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B4F7A"/>
                </a:solidFill>
                <a:latin typeface="IBM Plex Mono"/>
              </a:rPr>
              <a:t>KM TOTALES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4500" y="2413000"/>
            <a:ext cx="20955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800" b="1" i="0">
                <a:solidFill>
                  <a:srgbClr val="39166D"/>
                </a:solidFill>
                <a:latin typeface="IBM Plex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4500" y="3048000"/>
            <a:ext cx="2095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B4F7A"/>
                </a:solidFill>
                <a:latin typeface="IBM Plex Mono"/>
              </a:rPr>
              <a:t>COMPONENTE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7000" y="3581400"/>
            <a:ext cx="8382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4F7A"/>
                </a:solidFill>
                <a:latin typeface="IBM Plex Mono"/>
              </a:rPr>
              <a:t>60 / 138 / 220 / 500 kV · 2 puentes · 1 ciclo 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7000" y="42672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5B4F7A"/>
                </a:solidFill>
                <a:latin typeface="IBM Plex Mono"/>
              </a:rPr>
              <a:t>MÉTODO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0" y="42672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5B4F7A"/>
                </a:solidFill>
                <a:latin typeface="IBM Plex Mono"/>
              </a:rPr>
              <a:t>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4000" y="42672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5B4F7A"/>
                </a:solidFill>
                <a:latin typeface="IBM Plex Mono"/>
              </a:rPr>
              <a:t>CORTE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42672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5B4F7A"/>
                </a:solidFill>
                <a:latin typeface="IBM Plex Mono"/>
              </a:rPr>
              <a:t>TIEMPO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97000" y="4800600"/>
            <a:ext cx="8382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7000" y="48768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39166D"/>
                </a:solidFill>
                <a:latin typeface="IBM Plex Sans"/>
              </a:rPr>
              <a:t>Exacto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1000" y="48768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Mono"/>
              </a:rPr>
              <a:t>0.2322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000" y="48768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Mono"/>
              </a:rPr>
              <a:t>11.85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5000" y="48768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Mono"/>
              </a:rPr>
              <a:t>0.003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7000" y="55880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39166D"/>
                </a:solidFill>
                <a:latin typeface="IBM Plex Sans"/>
              </a:rPr>
              <a:t>Búsqueda 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1000" y="55880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Mono"/>
              </a:rPr>
              <a:t>0.2322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4000" y="55880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Mono"/>
              </a:rPr>
              <a:t>11.85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5000" y="55880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Mono"/>
              </a:rPr>
              <a:t>0.019 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97000" y="6223000"/>
            <a:ext cx="8382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7000" y="62992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39166D"/>
                </a:solidFill>
                <a:latin typeface="IBM Plex Sans"/>
              </a:rPr>
              <a:t>Kernighan–Lin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91000" y="62992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Mono"/>
              </a:rPr>
              <a:t>0.2322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4000" y="62992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Mono"/>
              </a:rPr>
              <a:t>11.85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5000" y="62992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Mono"/>
              </a:rPr>
              <a:t>0.002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97000" y="70104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39166D"/>
                </a:solidFill>
                <a:latin typeface="IBM Plex Sans"/>
              </a:rPr>
              <a:t>QAOA (p=1)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91000" y="70104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Mono"/>
              </a:rPr>
              <a:t>0.2322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4000" y="70104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Mono"/>
              </a:rPr>
              <a:t>11.85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5000" y="7010400"/>
            <a:ext cx="254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Mono"/>
              </a:rPr>
              <a:t>0.19 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97000" y="7670800"/>
            <a:ext cx="838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B4F7A"/>
                </a:solidFill>
                <a:latin typeface="IBM Plex Mono"/>
              </a:rPr>
              <a:t>Los cuatro métodos llegan al mismo H. La instancia es demasiado chica para distinguirlos.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14000" y="2413000"/>
            <a:ext cx="6477000" cy="50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BC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95000" y="26924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E7EB6"/>
                </a:solidFill>
                <a:latin typeface="IBM Plex Mono"/>
              </a:rPr>
              <a:t>FALLA DE PRUEBA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95000" y="3098800"/>
            <a:ext cx="571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Sans"/>
              </a:rPr>
              <a:t>Se retira el puente HUACA DEL SOL ↔ TRUJILLO SUR (6.21 km).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95000" y="4191000"/>
            <a:ext cx="254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39166D"/>
                </a:solidFill>
                <a:latin typeface="IBM Plex Sans"/>
              </a:rPr>
              <a:t>1 →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081000" y="4343400"/>
            <a:ext cx="3429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B4F7A"/>
                </a:solidFill>
                <a:latin typeface="IBM Plex Mono"/>
              </a:rPr>
              <a:t>COMPONENTES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95000" y="5029200"/>
            <a:ext cx="254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39166D"/>
                </a:solidFill>
                <a:latin typeface="IBM Plex Sans"/>
              </a:rPr>
              <a:t>6 →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081000" y="5181600"/>
            <a:ext cx="3429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B4F7A"/>
                </a:solidFill>
                <a:latin typeface="IBM Plex Mono"/>
              </a:rPr>
              <a:t>CONEXIONES ACTIVAS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95000" y="5867400"/>
            <a:ext cx="254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 i="0">
                <a:solidFill>
                  <a:srgbClr val="39166D"/>
                </a:solidFill>
                <a:latin typeface="IBM Plex Sans"/>
              </a:rPr>
              <a:t>0 →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081000" y="6019800"/>
            <a:ext cx="3429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B4F7A"/>
                </a:solidFill>
                <a:latin typeface="IBM Plex Mono"/>
              </a:rPr>
              <a:t>NODO AISLADO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14000" y="7823200"/>
            <a:ext cx="6477000" cy="1066800"/>
          </a:xfrm>
          <a:prstGeom prst="roundRect">
            <a:avLst>
              <a:gd name="adj" fmla="val 6000"/>
            </a:avLst>
          </a:prstGeom>
          <a:solidFill>
            <a:srgbClr val="FFF1F7"/>
          </a:solidFill>
          <a:ln w="19050">
            <a:solidFill>
              <a:srgbClr val="FE7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414000" y="7823200"/>
            <a:ext cx="76200" cy="1066800"/>
          </a:xfrm>
          <a:prstGeom prst="rect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744200" y="8001000"/>
            <a:ext cx="584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4A1030"/>
                </a:solidFill>
                <a:latin typeface="IBM Plex Sans"/>
              </a:rPr>
              <a:t>La falla es topológica: no estimamos energía no suministrada.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76400"/>
          </a:xfrm>
          <a:prstGeom prst="rect">
            <a:avLst/>
          </a:prstGeom>
          <a:solidFill>
            <a:srgbClr val="391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30200"/>
            <a:ext cx="965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E7EB6"/>
                </a:solidFill>
                <a:latin typeface="IBM Plex Mono"/>
              </a:rPr>
              <a:t>08 —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6200" y="635000"/>
            <a:ext cx="12700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IBM Plex Sans"/>
              </a:rPr>
              <a:t>Los resultados, navegables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8000" y="685800"/>
            <a:ext cx="37084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C9B8E8"/>
                </a:solidFill>
                <a:latin typeface="IBM Plex Sans"/>
              </a:rPr>
              <a:t>EnergyQuantum · QFF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29000" y="9271000"/>
            <a:ext cx="1270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3000" b="0" i="0">
                <a:solidFill>
                  <a:srgbClr val="7C8FB8"/>
                </a:solidFill>
                <a:latin typeface="IBM Plex Sans"/>
              </a:rPr>
              <a:t>08</a:t>
            </a:r>
          </a:p>
        </p:txBody>
      </p:sp>
      <p:pic>
        <p:nvPicPr>
          <p:cNvPr id="7" name="Picture 6" descr="landing-escrito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0" y="2540000"/>
            <a:ext cx="9652000" cy="5435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397000" y="2540000"/>
            <a:ext cx="9652000" cy="5435600"/>
          </a:xfrm>
          <a:prstGeom prst="rect">
            <a:avLst/>
          </a:prstGeom>
          <a:noFill/>
          <a:ln w="12700">
            <a:solidFill>
              <a:srgbClr val="391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11557000" y="2705100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0" y="2603500"/>
            <a:ext cx="5130800" cy="530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Sans"/>
              </a:rPr>
              <a:t>Streamlit: 12 pantallas, 8 sintéticas y 4 de datos reales.</a:t>
            </a:r>
          </a:p>
        </p:txBody>
      </p:sp>
      <p:sp>
        <p:nvSpPr>
          <p:cNvPr id="11" name="Diamond 10"/>
          <p:cNvSpPr/>
          <p:nvPr/>
        </p:nvSpPr>
        <p:spPr>
          <a:xfrm>
            <a:off x="11557000" y="3438804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0" y="3337204"/>
            <a:ext cx="5130800" cy="265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Sans"/>
              </a:rPr>
              <a:t>API FastAPI: red, subredes, optimización y fallas.</a:t>
            </a:r>
          </a:p>
        </p:txBody>
      </p:sp>
      <p:sp>
        <p:nvSpPr>
          <p:cNvPr id="13" name="Diamond 12"/>
          <p:cNvSpPr/>
          <p:nvPr/>
        </p:nvSpPr>
        <p:spPr>
          <a:xfrm>
            <a:off x="11557000" y="3907256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0" y="3805656"/>
            <a:ext cx="5130800" cy="265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Sans"/>
              </a:rPr>
              <a:t>Frontend React + MapLibre en localhost:3001.</a:t>
            </a:r>
          </a:p>
        </p:txBody>
      </p:sp>
      <p:sp>
        <p:nvSpPr>
          <p:cNvPr id="15" name="Diamond 14"/>
          <p:cNvSpPr/>
          <p:nvPr/>
        </p:nvSpPr>
        <p:spPr>
          <a:xfrm>
            <a:off x="11557000" y="4375708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0" y="4274108"/>
            <a:ext cx="5130800" cy="265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Sans"/>
              </a:rPr>
              <a:t>Exporta JSON, CSV y GraphML con procedencia.</a:t>
            </a:r>
          </a:p>
        </p:txBody>
      </p:sp>
      <p:sp>
        <p:nvSpPr>
          <p:cNvPr id="17" name="Diamond 16"/>
          <p:cNvSpPr/>
          <p:nvPr/>
        </p:nvSpPr>
        <p:spPr>
          <a:xfrm>
            <a:off x="11557000" y="4844160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0" y="4742560"/>
            <a:ext cx="5130800" cy="265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Sans"/>
              </a:rPr>
              <a:t>Todo local: sin credenciales ni hardware de IBM.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97000" y="8382000"/>
            <a:ext cx="9652000" cy="1016000"/>
          </a:xfrm>
          <a:prstGeom prst="roundRect">
            <a:avLst>
              <a:gd name="adj" fmla="val 6000"/>
            </a:avLst>
          </a:prstGeom>
          <a:solidFill>
            <a:srgbClr val="FFF1F7"/>
          </a:solidFill>
          <a:ln w="19050">
            <a:solidFill>
              <a:srgbClr val="FE7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97000" y="8382000"/>
            <a:ext cx="76200" cy="1016000"/>
          </a:xfrm>
          <a:prstGeom prst="rect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27200" y="8559800"/>
            <a:ext cx="9017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4A1030"/>
                </a:solidFill>
                <a:latin typeface="IBM Plex Sans"/>
              </a:rPr>
              <a:t>Un comando y semillas fijas: </a:t>
            </a:r>
            <a:r>
              <a:rPr sz="1400" b="1" i="0">
                <a:solidFill>
                  <a:srgbClr val="4A1030"/>
                </a:solidFill>
                <a:latin typeface="IBM Plex Mono"/>
              </a:rPr>
              <a:t>python -m scripts.run_real_experiment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76400"/>
          </a:xfrm>
          <a:prstGeom prst="rect">
            <a:avLst/>
          </a:prstGeom>
          <a:solidFill>
            <a:srgbClr val="391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30200"/>
            <a:ext cx="965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E7EB6"/>
                </a:solidFill>
                <a:latin typeface="IBM Plex Mono"/>
              </a:rPr>
              <a:t>09 — LECTURA HONESTA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6200" y="635000"/>
            <a:ext cx="12700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IBM Plex Sans"/>
              </a:rPr>
              <a:t>Hoy gana lo clásico. Lo decimos.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8000" y="685800"/>
            <a:ext cx="37084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C9B8E8"/>
                </a:solidFill>
                <a:latin typeface="IBM Plex Sans"/>
              </a:rPr>
              <a:t>EnergyQuantum · QFF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29000" y="9271000"/>
            <a:ext cx="1270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3000" b="0" i="0">
                <a:solidFill>
                  <a:srgbClr val="7C8FB8"/>
                </a:solidFill>
                <a:latin typeface="IBM Plex San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7000" y="2489200"/>
            <a:ext cx="279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5B4F7A"/>
                </a:solidFill>
                <a:latin typeface="IBM Plex Mono"/>
              </a:rPr>
              <a:t>MÉTODO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0" y="2489200"/>
            <a:ext cx="279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5B4F7A"/>
                </a:solidFill>
                <a:latin typeface="IBM Plex Mono"/>
              </a:rPr>
              <a:t>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4000" y="2489200"/>
            <a:ext cx="279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5B4F7A"/>
                </a:solidFill>
                <a:latin typeface="IBM Plex Mono"/>
              </a:rPr>
              <a:t>CORTE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2489200"/>
            <a:ext cx="279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5B4F7A"/>
                </a:solidFill>
                <a:latin typeface="IBM Plex Mono"/>
              </a:rPr>
              <a:t>¿ÓPTIMO?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0" y="2489200"/>
            <a:ext cx="279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5B4F7A"/>
                </a:solidFill>
                <a:latin typeface="IBM Plex Mono"/>
              </a:rPr>
              <a:t>TIEMPO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97000" y="2844800"/>
            <a:ext cx="13589000" cy="63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7000" y="29464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39166D"/>
                </a:solidFill>
                <a:latin typeface="IBM Plex Sans"/>
              </a:rPr>
              <a:t>Exacto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0" y="29464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Mono"/>
              </a:rPr>
              <a:t>0.2252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4000" y="29464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Mono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0" y="29464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Mono"/>
              </a:rPr>
              <a:t>Sí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0" y="29464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Mono"/>
              </a:rPr>
              <a:t>0.19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7000" y="36830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39166D"/>
                </a:solidFill>
                <a:latin typeface="IBM Plex Sans"/>
              </a:rPr>
              <a:t>Búsqueda 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0" y="36830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Mono"/>
              </a:rPr>
              <a:t>0.2252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4000" y="36830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Mono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36830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Mono"/>
              </a:rPr>
              <a:t>Sí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2000" y="36830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Mono"/>
              </a:rPr>
              <a:t>0.07 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97000" y="4318000"/>
            <a:ext cx="13589000" cy="63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97000" y="44196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39166D"/>
                </a:solidFill>
                <a:latin typeface="IBM Plex Sans"/>
              </a:rPr>
              <a:t>Kernighan–Lin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44196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Mono"/>
              </a:rPr>
              <a:t>0.2252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74000" y="44196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Mono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6000" y="44196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Mono"/>
              </a:rPr>
              <a:t>Sí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2000" y="44196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Mono"/>
              </a:rPr>
              <a:t>0.003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7000" y="51562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39166D"/>
                </a:solidFill>
                <a:latin typeface="IBM Plex Sans"/>
              </a:rPr>
              <a:t>QAOA p=4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51562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Mono"/>
              </a:rPr>
              <a:t>0.2252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74000" y="51562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6000" y="51562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Mono"/>
              </a:rPr>
              <a:t>Sí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92000" y="5156200"/>
            <a:ext cx="304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140A2E"/>
                </a:solidFill>
                <a:latin typeface="IBM Plex Mono"/>
              </a:rPr>
              <a:t>0.87 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97000" y="6223000"/>
            <a:ext cx="7366000" cy="1651000"/>
          </a:xfrm>
          <a:prstGeom prst="roundRect">
            <a:avLst>
              <a:gd name="adj" fmla="val 6000"/>
            </a:avLst>
          </a:prstGeom>
          <a:solidFill>
            <a:srgbClr val="FFF1F7"/>
          </a:solidFill>
          <a:ln w="19050">
            <a:solidFill>
              <a:srgbClr val="FE7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97000" y="6223000"/>
            <a:ext cx="76200" cy="1651000"/>
          </a:xfrm>
          <a:prstGeom prst="rect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27200" y="6400800"/>
            <a:ext cx="6731000" cy="134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4A1030"/>
                </a:solidFill>
                <a:latin typeface="IBM Plex Sans"/>
              </a:rPr>
              <a:t>KL no mira la demanda. </a:t>
            </a:r>
            <a:r>
              <a:rPr sz="1500" b="0" i="0">
                <a:solidFill>
                  <a:srgbClr val="4A1030"/>
                </a:solidFill>
                <a:latin typeface="IBM Plex Sans"/>
              </a:rPr>
              <a:t>Falla en 6 y 8 nodos: 0.5685 y 0.4981 frente a 0.3210 y 0.2664 del óptimo.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6223000"/>
            <a:ext cx="7747000" cy="1651000"/>
          </a:xfrm>
          <a:prstGeom prst="roundRect">
            <a:avLst>
              <a:gd name="adj" fmla="val 6000"/>
            </a:avLst>
          </a:prstGeom>
          <a:solidFill>
            <a:srgbClr val="FFF1F7"/>
          </a:solidFill>
          <a:ln w="19050">
            <a:solidFill>
              <a:srgbClr val="FE7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6223000"/>
            <a:ext cx="76200" cy="1651000"/>
          </a:xfrm>
          <a:prstGeom prst="rect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74200" y="6400800"/>
            <a:ext cx="7112000" cy="1346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4A1030"/>
                </a:solidFill>
                <a:latin typeface="IBM Plex Sans"/>
              </a:rPr>
              <a:t>Con 100 nodos hay 2</a:t>
            </a:r>
            <a:r>
              <a:rPr sz="1200" b="0" i="0" baseline="30000">
                <a:solidFill>
                  <a:srgbClr val="4A1030"/>
                </a:solidFill>
                <a:latin typeface="IBM Plex Sans"/>
              </a:rPr>
              <a:t>99</a:t>
            </a:r>
            <a:r>
              <a:rPr sz="1500" b="1" i="0">
                <a:solidFill>
                  <a:srgbClr val="4A1030"/>
                </a:solidFill>
                <a:latin typeface="IBM Plex Sans"/>
              </a:rPr>
              <a:t> particiones. </a:t>
            </a:r>
            <a:r>
              <a:rPr sz="1500" b="0" i="0">
                <a:solidFill>
                  <a:srgbClr val="4A1030"/>
                </a:solidFill>
                <a:latin typeface="IBM Plex Sans"/>
              </a:rPr>
              <a:t>Ahí los atajos clásicos dejan de garantizar el óptimo.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97000" y="8318500"/>
            <a:ext cx="1549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140A2E"/>
                </a:solidFill>
                <a:latin typeface="IBM Plex Sans"/>
              </a:rPr>
              <a:t>Nuestro aporte: </a:t>
            </a:r>
            <a:r>
              <a:rPr sz="1600" b="1" i="0">
                <a:solidFill>
                  <a:srgbClr val="140A2E"/>
                </a:solidFill>
                <a:latin typeface="IBM Plex Sans"/>
              </a:rPr>
              <a:t>formulación completa y validada</a:t>
            </a:r>
            <a:r>
              <a:rPr sz="1600" b="0" i="0">
                <a:solidFill>
                  <a:srgbClr val="140A2E"/>
                </a:solidFill>
                <a:latin typeface="IBM Plex Sans"/>
              </a:rPr>
              <a:t> a una escala donde cada resultado se puede comprobar contra el exacto.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76400"/>
          </a:xfrm>
          <a:prstGeom prst="rect">
            <a:avLst/>
          </a:prstGeom>
          <a:solidFill>
            <a:srgbClr val="391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30200"/>
            <a:ext cx="965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E7EB6"/>
                </a:solidFill>
                <a:latin typeface="IBM Plex Mono"/>
              </a:rPr>
              <a:t>10 — LÍMITES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6200" y="635000"/>
            <a:ext cx="12700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IBM Plex Sans"/>
              </a:rPr>
              <a:t>Lo que este trabajo no afirma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8000" y="685800"/>
            <a:ext cx="37084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C9B8E8"/>
                </a:solidFill>
                <a:latin typeface="IBM Plex Sans"/>
              </a:rPr>
              <a:t>EnergyQuantum · QFF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29000" y="9271000"/>
            <a:ext cx="1270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3000" b="0" i="0">
                <a:solidFill>
                  <a:srgbClr val="7C8FB8"/>
                </a:solidFill>
                <a:latin typeface="IBM Plex San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7000" y="2362200"/>
            <a:ext cx="482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E7EB6"/>
                </a:solidFill>
                <a:latin typeface="IBM Plex Mono"/>
              </a:rPr>
              <a:t>LÍMITES</a:t>
            </a:r>
          </a:p>
        </p:txBody>
      </p:sp>
      <p:sp>
        <p:nvSpPr>
          <p:cNvPr id="8" name="Diamond 7"/>
          <p:cNvSpPr/>
          <p:nvPr/>
        </p:nvSpPr>
        <p:spPr>
          <a:xfrm>
            <a:off x="1397000" y="2895600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27200" y="2794000"/>
            <a:ext cx="4495800" cy="530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Sans"/>
              </a:rPr>
              <a:t>12 nodos como máximo; la mayor componente real tiene 153.</a:t>
            </a:r>
          </a:p>
        </p:txBody>
      </p:sp>
      <p:sp>
        <p:nvSpPr>
          <p:cNvPr id="10" name="Diamond 9"/>
          <p:cNvSpPr/>
          <p:nvPr/>
        </p:nvSpPr>
        <p:spPr>
          <a:xfrm>
            <a:off x="1397000" y="3629304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7200" y="3527704"/>
            <a:ext cx="4495800" cy="265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Sans"/>
              </a:rPr>
              <a:t>Aer ideal, sin ruido ni chip real de IBM.</a:t>
            </a:r>
          </a:p>
        </p:txBody>
      </p:sp>
      <p:sp>
        <p:nvSpPr>
          <p:cNvPr id="12" name="Diamond 11"/>
          <p:cNvSpPr/>
          <p:nvPr/>
        </p:nvSpPr>
        <p:spPr>
          <a:xfrm>
            <a:off x="1397000" y="4097756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27200" y="3996156"/>
            <a:ext cx="4495800" cy="530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Sans"/>
              </a:rPr>
              <a:t>Demanda y generación son supuestos, no despacho oficial.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2000" y="2362200"/>
            <a:ext cx="482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E7EB6"/>
                </a:solidFill>
                <a:latin typeface="IBM Plex Mono"/>
              </a:rPr>
              <a:t>TAMPOCO MODELAMOS</a:t>
            </a:r>
          </a:p>
        </p:txBody>
      </p:sp>
      <p:sp>
        <p:nvSpPr>
          <p:cNvPr id="15" name="Diamond 14"/>
          <p:cNvSpPr/>
          <p:nvPr/>
        </p:nvSpPr>
        <p:spPr>
          <a:xfrm>
            <a:off x="7112000" y="2895600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42200" y="2794000"/>
            <a:ext cx="4495800" cy="530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Sans"/>
              </a:rPr>
              <a:t>Flujo AC/DC, protecciones, frecuencia ni energía no suministrada.</a:t>
            </a:r>
          </a:p>
        </p:txBody>
      </p:sp>
      <p:sp>
        <p:nvSpPr>
          <p:cNvPr id="17" name="Diamond 16"/>
          <p:cNvSpPr/>
          <p:nvPr/>
        </p:nvSpPr>
        <p:spPr>
          <a:xfrm>
            <a:off x="7112000" y="3629304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2200" y="3527704"/>
            <a:ext cx="4495800" cy="530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Sans"/>
              </a:rPr>
              <a:t>Más de dos grupos o restricciones eléctricas dentro de H.</a:t>
            </a:r>
          </a:p>
        </p:txBody>
      </p:sp>
      <p:sp>
        <p:nvSpPr>
          <p:cNvPr id="19" name="Diamond 18"/>
          <p:cNvSpPr/>
          <p:nvPr/>
        </p:nvSpPr>
        <p:spPr>
          <a:xfrm>
            <a:off x="7112000" y="4363008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2200" y="4261408"/>
            <a:ext cx="4495800" cy="530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Sans"/>
              </a:rPr>
              <a:t>Validación automática de COES: las 501 aristas tienen coes_validated = false.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27000" y="2362200"/>
            <a:ext cx="482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E7EB6"/>
                </a:solidFill>
                <a:latin typeface="IBM Plex Mono"/>
              </a:rPr>
              <a:t>SIGUIENTES PASOS</a:t>
            </a:r>
          </a:p>
        </p:txBody>
      </p:sp>
      <p:sp>
        <p:nvSpPr>
          <p:cNvPr id="22" name="Diamond 21"/>
          <p:cNvSpPr/>
          <p:nvPr/>
        </p:nvSpPr>
        <p:spPr>
          <a:xfrm>
            <a:off x="12827000" y="2895600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157200" y="2794000"/>
            <a:ext cx="4495800" cy="265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Sans"/>
              </a:rPr>
              <a:t>Chip real de IBM con mitigación de errores.</a:t>
            </a:r>
          </a:p>
        </p:txBody>
      </p:sp>
      <p:sp>
        <p:nvSpPr>
          <p:cNvPr id="24" name="Diamond 23"/>
          <p:cNvSpPr/>
          <p:nvPr/>
        </p:nvSpPr>
        <p:spPr>
          <a:xfrm>
            <a:off x="12827000" y="3364052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157200" y="3262452"/>
            <a:ext cx="4495800" cy="265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Sans"/>
              </a:rPr>
              <a:t>Subir a 20–30 nodos con heurísticas híbridas.</a:t>
            </a:r>
          </a:p>
        </p:txBody>
      </p:sp>
      <p:sp>
        <p:nvSpPr>
          <p:cNvPr id="26" name="Diamond 25"/>
          <p:cNvSpPr/>
          <p:nvPr/>
        </p:nvSpPr>
        <p:spPr>
          <a:xfrm>
            <a:off x="12827000" y="3832504"/>
            <a:ext cx="114300" cy="114300"/>
          </a:xfrm>
          <a:prstGeom prst="diamond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57200" y="3730904"/>
            <a:ext cx="4495800" cy="530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140A2E"/>
                </a:solidFill>
                <a:latin typeface="IBM Plex Sans"/>
              </a:rPr>
              <a:t>Restricciones de capacidad y flujo en el Hamiltoniano.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97000" y="6223000"/>
            <a:ext cx="15494000" cy="1524000"/>
          </a:xfrm>
          <a:prstGeom prst="roundRect">
            <a:avLst>
              <a:gd name="adj" fmla="val 6000"/>
            </a:avLst>
          </a:prstGeom>
          <a:solidFill>
            <a:srgbClr val="FFF1F7"/>
          </a:solidFill>
          <a:ln w="19050">
            <a:solidFill>
              <a:srgbClr val="FE7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97000" y="6223000"/>
            <a:ext cx="76200" cy="1524000"/>
          </a:xfrm>
          <a:prstGeom prst="rect">
            <a:avLst/>
          </a:prstGeom>
          <a:solidFill>
            <a:srgbClr val="FE7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27200" y="6400800"/>
            <a:ext cx="148590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4A1030"/>
                </a:solidFill>
                <a:latin typeface="IBM Plex Sans"/>
              </a:rPr>
              <a:t>Una conexión verificada solo dice que los extremos declarados coinciden. </a:t>
            </a:r>
            <a:r>
              <a:rPr sz="1700" b="1" i="0">
                <a:solidFill>
                  <a:srgbClr val="4A1030"/>
                </a:solidFill>
                <a:latin typeface="IBM Plex Sans"/>
              </a:rPr>
              <a:t>No certifica suministro ni operación.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7000" y="8763000"/>
            <a:ext cx="15494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B4F7A"/>
                </a:solidFill>
                <a:latin typeface="IBM Plex Mono"/>
              </a:rPr>
              <a:t>docs/LIMITATIONS.md · docs/TOPOLOGY_VALIDATION.md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8_0_X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640" y="-100330"/>
            <a:ext cx="18373090" cy="10287000"/>
          </a:xfrm>
          <a:prstGeom prst="rect">
            <a:avLst/>
          </a:prstGeom>
        </p:spPr>
      </p:pic>
      <p:pic>
        <p:nvPicPr>
          <p:cNvPr id="3" name="Picture 2" descr="p8_4_X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20" y="9257030"/>
            <a:ext cx="2971800" cy="713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968500"/>
            <a:ext cx="18288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400" b="0" i="0">
                <a:solidFill>
                  <a:srgbClr val="006EFF"/>
                </a:solidFill>
                <a:latin typeface="IBM Plex Sans Light"/>
              </a:rPr>
              <a:t>IBM QUANTUM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86100"/>
            <a:ext cx="18288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400" b="0" i="0">
                <a:solidFill>
                  <a:srgbClr val="006EFF"/>
                </a:solidFill>
                <a:latin typeface="IBM Plex Sans Light"/>
              </a:rPr>
              <a:t>GLOBAL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80000"/>
            <a:ext cx="1828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000" b="0" i="0">
                <a:solidFill>
                  <a:srgbClr val="006EFF"/>
                </a:solidFill>
                <a:latin typeface="IBM Plex Sans"/>
              </a:rPr>
              <a:t>TEAM ENERGYQUANTUM</a:t>
            </a:r>
          </a:p>
        </p:txBody>
      </p:sp>
      <p:pic>
        <p:nvPicPr>
          <p:cNvPr id="7" name="Picture 6" descr="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550" y="6057900"/>
            <a:ext cx="1574800" cy="1574800"/>
          </a:xfrm>
          <a:prstGeom prst="rect">
            <a:avLst/>
          </a:prstGeom>
        </p:spPr>
      </p:pic>
      <p:pic>
        <p:nvPicPr>
          <p:cNvPr id="8" name="Picture 7" descr="S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7250" y="6057900"/>
            <a:ext cx="1574800" cy="1574800"/>
          </a:xfrm>
          <a:prstGeom prst="rect">
            <a:avLst/>
          </a:prstGeom>
        </p:spPr>
      </p:pic>
      <p:pic>
        <p:nvPicPr>
          <p:cNvPr id="9" name="Picture 8" descr="G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5950" y="6057900"/>
            <a:ext cx="1574800" cy="1574800"/>
          </a:xfrm>
          <a:prstGeom prst="rect">
            <a:avLst/>
          </a:prstGeom>
        </p:spPr>
      </p:pic>
      <p:pic>
        <p:nvPicPr>
          <p:cNvPr id="10" name="Picture 9" descr="J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04650" y="6057900"/>
            <a:ext cx="1574800" cy="157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8890000"/>
            <a:ext cx="1828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8A8A8A"/>
                </a:solidFill>
                <a:latin typeface="IBM Plex Mono"/>
              </a:rPr>
              <a:t>github.com/cercadoUE/EnergyQuantum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EnergyQuantum - Qiskit Fall Fest 2026</dc:title>
  <dc:subject>Partición binaria de la red eléctrica del Perú</dc:subject>
  <dc:creator>EnergyQuantum</dc:creator>
  <cp:keywords>Qiskit, QAOA, SEIN, Osinergmin</cp:keywords>
  <dc:description/>
  <cp:lastModifiedBy>EnergyQuantum</cp:lastModifiedBy>
  <cp:revision>1</cp:revision>
  <dcterms:created xsi:type="dcterms:W3CDTF">2026-10-24T15:22:17Z</dcterms:created>
  <dcterms:modified xsi:type="dcterms:W3CDTF">2026-10-24T15:22:17Z</dcterms:modified>
  <cp:category/>
</cp:coreProperties>
</file>